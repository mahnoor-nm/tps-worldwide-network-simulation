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3C83-2123-7C93-1968-3EF2ACED4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057D6-0DAA-AA0F-57E3-60ACA9C1D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726E7-630E-18DB-BE32-D0257FB7F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DC75-DA94-6DBC-9DD2-AEEA0979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6042-25E5-0CA6-7F32-0437F806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5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3058-33F9-4E13-3A12-060C3D19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27D7-32CE-E654-88A4-497841A92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C6925-0208-77D3-6F5A-112D16F1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949AC-6CC5-3189-72DA-B2010EB3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1E2D3-2A02-5AED-C440-949A5DA2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571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FCE9-F474-1F1C-B5AB-AA7997A1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94C77-5C11-57D5-FAA8-BFA3B15B2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2D90-D05A-7C4C-FDDA-BFDE3038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7546-8145-B2DC-0F7E-91000C36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74D9B-6C15-393B-2DD9-F47D2CAD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398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BAA0-E3B0-980B-B426-064E581D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A66B-4E47-EF7B-AF04-ADC7218A9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0023-271F-2F9B-2226-EA5754208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D307C-BBF0-6BDD-82FF-57E99166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698B1-EFD7-480B-DA9B-C237E633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B5431-44B6-644E-2F3C-E2D69152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118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F058-3CA9-0732-4413-6D3B0148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3B39F-A8FF-12EF-5CD1-9A6C901DE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3E162-C25B-CC2F-FD9F-B89F967F5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948AD-52F5-7C04-0F6F-7EE35E21A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1CF38-B04D-E713-2C4C-A7404B711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D8E65-9992-5624-1A57-B70F7A4C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4BCED-71DE-E809-9CDE-07103435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FDD2D-E3F2-2BF8-37DE-43B53384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1062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B219-E51B-B442-1737-F3E85BA9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0BDF4-17D1-6B86-DB53-F8B20917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F1BFA-9C3A-4287-5DDB-A4ACB928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A41B5-2BFD-1887-A42C-E71B2E9C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611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10247-C83B-7CBB-D1F7-4619CBBD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B14CC-54BC-A5BE-29DD-0B437B3E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967B-7A2E-8858-5CD1-CD52CF7F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263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BC18-7F16-6537-195F-4B513381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82F0-9F3C-3968-C8E2-A0DF664F8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02293-EBBF-C4C6-80BA-F473A93F5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5F230-1355-210A-FBFF-3FF7CD8A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0D6E0-6734-A1BE-59B0-D6D7C349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78DD6-B127-7F57-4B28-1E3CD7A3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798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9B4C-0477-AC09-A9D9-7716DAEC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CAFD5-4864-E2CF-D962-B51B861D7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92488-1ED9-7C9C-B39D-61371E848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5AB02-A6CF-8B50-D118-F07DB05E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632CA-9D87-9C80-7027-C1382524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F08-2864-33F5-1EC4-FA538776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264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EA1A-701F-DA8E-174B-261CE28C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5AB5C-391E-313C-484F-058FA26FF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13340-B014-2F62-E6F6-70992F71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A32F4-A1F7-9FC3-50C8-9DEF2489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97AF4-5071-C0BA-D83E-E4A50168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104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61273-5151-0696-5158-198E7833E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DCA5A-FF1C-3B7E-712E-1B1BFAD1D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DF-768E-C2CE-7905-087CE051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AF93B-6E47-8779-3717-015CAA6E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4C42-6BE7-5414-D733-DC384980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364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2A5DC-0901-910E-04C0-3DA2D1EC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71D48-BF11-0D52-74ED-549E41D0A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790C2-794E-A8BA-C263-4C4CED3B7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D0801-C1F3-48CE-93A8-AE7BC1766D10}" type="datetimeFigureOut">
              <a:rPr lang="en-PK" smtClean="0"/>
              <a:t>13/06/2025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5FAC5-FA89-D419-926B-61F13E280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30A00-BAAE-ADB2-17D1-6761E1FF1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3BC20-73ED-4E3D-A64C-95D6D4586E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0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44174-475B-F5DD-2733-5AB51A163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3700" b="1"/>
              <a:t>Design and Simulation of TPS Worldwide’s Network Infrastructure</a:t>
            </a:r>
            <a:br>
              <a:rPr lang="en-US" sz="3700"/>
            </a:br>
            <a:r>
              <a:rPr lang="en-US" sz="3700" b="1"/>
              <a:t>(Blueprint-Based Implementation in Cisco Packet Tracer)</a:t>
            </a:r>
            <a:endParaRPr lang="en-PK" sz="37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0E106F-3504-A62E-DE96-CD55A5137A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3467" y="5277684"/>
            <a:ext cx="4620584" cy="7754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Syeda Maham Ikram (23SP-101-CS)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Fizza Mubben (23SP-070-CS)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Mahnoor Nadeem (23SP-065-CS)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Rabbania Akhter (23SP-064-CS)</a:t>
            </a:r>
          </a:p>
        </p:txBody>
      </p:sp>
      <p:pic>
        <p:nvPicPr>
          <p:cNvPr id="6" name="Picture 5" descr="Blue blocks and networks technology background">
            <a:extLst>
              <a:ext uri="{FF2B5EF4-FFF2-40B4-BE49-F238E27FC236}">
                <a16:creationId xmlns:a16="http://schemas.microsoft.com/office/drawing/2014/main" id="{2141BA43-CA18-85B3-128F-DE90523F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92" r="4040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289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57F75-7123-B3C3-5A70-743C2E8E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/>
              <a:t>Project overview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D9B0B-1CAA-11F5-548C-FAB8F58F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612949"/>
            <a:ext cx="6722766" cy="5817996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US" sz="1300" dirty="0"/>
          </a:p>
          <a:p>
            <a:r>
              <a:rPr lang="en-US" sz="1800" dirty="0"/>
              <a:t>Designed a simulated enterprise-grade network</a:t>
            </a:r>
          </a:p>
          <a:p>
            <a:r>
              <a:rPr lang="en-US" sz="1800" dirty="0"/>
              <a:t> Based on a blueprint requested from TPS Worldwide (Karachi-based fintech firm)</a:t>
            </a:r>
          </a:p>
          <a:p>
            <a:r>
              <a:rPr lang="en-US" sz="1800" dirty="0"/>
              <a:t> Implemented using Cisco Packet Tracer</a:t>
            </a:r>
          </a:p>
          <a:p>
            <a:pPr marL="0" indent="0">
              <a:buNone/>
            </a:pPr>
            <a:r>
              <a:rPr lang="en-US" sz="1800" b="1" u="sng" dirty="0"/>
              <a:t>Key Goals :</a:t>
            </a:r>
          </a:p>
          <a:p>
            <a:pPr marL="0" indent="0">
              <a:buNone/>
            </a:pPr>
            <a:r>
              <a:rPr lang="en-US" sz="1800" b="1" dirty="0"/>
              <a:t>Logical Segmentation:</a:t>
            </a:r>
          </a:p>
          <a:p>
            <a:pPr marL="0" indent="0">
              <a:buNone/>
            </a:pPr>
            <a:r>
              <a:rPr lang="en-US" sz="1800" dirty="0"/>
              <a:t>Each department (e.g., Dev – VLAN 10, HR – VLAN 30) is isolated using VLANs to reduce broadcast traffic.</a:t>
            </a:r>
          </a:p>
          <a:p>
            <a:pPr marL="0" indent="0">
              <a:buNone/>
            </a:pPr>
            <a:r>
              <a:rPr lang="en-US" sz="1800" b="1" dirty="0"/>
              <a:t>Centralized Services:</a:t>
            </a:r>
          </a:p>
          <a:p>
            <a:pPr marL="0" indent="0">
              <a:buNone/>
            </a:pPr>
            <a:r>
              <a:rPr lang="en-US" sz="1800" dirty="0"/>
              <a:t>DHCP, DNS, FTP, and Web servers hosted in Server VLAN 50, accessible to all departments.</a:t>
            </a:r>
          </a:p>
          <a:p>
            <a:pPr marL="0" indent="0">
              <a:buNone/>
            </a:pPr>
            <a:r>
              <a:rPr lang="en-US" sz="1800" b="1" dirty="0"/>
              <a:t>Secure Inter-VLAN Communication:</a:t>
            </a:r>
          </a:p>
          <a:p>
            <a:pPr marL="0" indent="0">
              <a:buNone/>
            </a:pPr>
            <a:r>
              <a:rPr lang="en-US" sz="1800" dirty="0"/>
              <a:t>Controlled via a Layer 3 core switch, allowing only necessary cross-department access.</a:t>
            </a:r>
          </a:p>
          <a:p>
            <a:pPr marL="0" indent="0">
              <a:buNone/>
            </a:pPr>
            <a:r>
              <a:rPr lang="en-US" sz="1800" b="1" dirty="0"/>
              <a:t>Scalable &amp; Testable:</a:t>
            </a:r>
          </a:p>
          <a:p>
            <a:pPr marL="0" indent="0">
              <a:buNone/>
            </a:pPr>
            <a:r>
              <a:rPr lang="en-US" sz="1800" dirty="0"/>
              <a:t>Network supports 180+ devices; new departments can be added via VLANs; services tested end-to-end.</a:t>
            </a:r>
          </a:p>
          <a:p>
            <a:endParaRPr lang="en-US" sz="1300" dirty="0"/>
          </a:p>
          <a:p>
            <a:endParaRPr lang="en-PK" sz="1300" dirty="0"/>
          </a:p>
        </p:txBody>
      </p:sp>
    </p:spTree>
    <p:extLst>
      <p:ext uri="{BB962C8B-B14F-4D97-AF65-F5344CB8AC3E}">
        <p14:creationId xmlns:p14="http://schemas.microsoft.com/office/powerpoint/2010/main" val="148009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5436E-5C2C-F88E-C833-D49607AF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Objectives</a:t>
            </a:r>
            <a:endParaRPr lang="en-PK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F6ED83-84B7-9C70-7F0D-EA10D1DFD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5014" y="964850"/>
            <a:ext cx="6068786" cy="4928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900"/>
              <a:t>Simulate a multi-department </a:t>
            </a:r>
            <a:r>
              <a:rPr lang="en-US" sz="1900" b="1"/>
              <a:t>enterprise network</a:t>
            </a:r>
            <a:endParaRPr lang="en-US" sz="1900"/>
          </a:p>
          <a:p>
            <a:r>
              <a:rPr lang="en-US" sz="1900"/>
              <a:t>Use </a:t>
            </a:r>
            <a:r>
              <a:rPr lang="en-US" sz="1900" b="1"/>
              <a:t>VLANs</a:t>
            </a:r>
            <a:r>
              <a:rPr lang="en-US" sz="1900"/>
              <a:t> for logical traffic separation between departments</a:t>
            </a:r>
          </a:p>
          <a:p>
            <a:r>
              <a:rPr lang="en-US" sz="1900"/>
              <a:t>Design a </a:t>
            </a:r>
            <a:r>
              <a:rPr lang="en-US" sz="1900" b="1"/>
              <a:t>two-tier topology</a:t>
            </a:r>
            <a:r>
              <a:rPr lang="en-US" sz="1900"/>
              <a:t> with Core and Access layers</a:t>
            </a:r>
          </a:p>
          <a:p>
            <a:r>
              <a:rPr lang="en-US" sz="1900"/>
              <a:t>Configure essential network services:</a:t>
            </a:r>
          </a:p>
          <a:p>
            <a:pPr lvl="1"/>
            <a:r>
              <a:rPr lang="en-US" sz="1900" b="1"/>
              <a:t>DHCP</a:t>
            </a:r>
            <a:r>
              <a:rPr lang="en-US" sz="1900"/>
              <a:t> – for automatic IP assignment</a:t>
            </a:r>
          </a:p>
          <a:p>
            <a:pPr lvl="1"/>
            <a:r>
              <a:rPr lang="en-US" sz="1900" b="1"/>
              <a:t>DNS</a:t>
            </a:r>
            <a:r>
              <a:rPr lang="en-US" sz="1900"/>
              <a:t> – for internal domain name resolution</a:t>
            </a:r>
          </a:p>
          <a:p>
            <a:pPr lvl="1"/>
            <a:r>
              <a:rPr lang="en-US" sz="1900" b="1"/>
              <a:t>FTP</a:t>
            </a:r>
            <a:r>
              <a:rPr lang="en-US" sz="1900"/>
              <a:t> – for file sharing across departments</a:t>
            </a:r>
          </a:p>
          <a:p>
            <a:pPr lvl="1"/>
            <a:r>
              <a:rPr lang="en-US" sz="1900" b="1"/>
              <a:t>Web Server</a:t>
            </a:r>
            <a:r>
              <a:rPr lang="en-US" sz="1900"/>
              <a:t> – for intranet access (HTTP)</a:t>
            </a:r>
          </a:p>
          <a:p>
            <a:r>
              <a:rPr lang="en-US" sz="1900"/>
              <a:t>Validate </a:t>
            </a:r>
            <a:r>
              <a:rPr lang="en-US" sz="1900" b="1"/>
              <a:t>end-to-end connectivity</a:t>
            </a:r>
            <a:r>
              <a:rPr lang="en-US" sz="1900"/>
              <a:t>, service availability, and inter-VLAN routing</a:t>
            </a:r>
          </a:p>
          <a:p>
            <a:r>
              <a:rPr lang="en-US" sz="1900"/>
              <a:t>Build a </a:t>
            </a:r>
            <a:r>
              <a:rPr lang="en-US" sz="1900" b="1"/>
              <a:t>simple yet effective network</a:t>
            </a:r>
            <a:r>
              <a:rPr lang="en-US" sz="1900"/>
              <a:t> that also helps </a:t>
            </a:r>
            <a:r>
              <a:rPr lang="en-US" sz="1900" b="1"/>
              <a:t>practice key exam topics</a:t>
            </a:r>
            <a:r>
              <a:rPr lang="en-US" sz="1900"/>
              <a:t> like VLANs, inter-VLAN routing, DHCP, DNS, and FTP configuration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91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4A2B3-1DF5-A359-B611-0A0AC6C8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Network Architecture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25B8-8536-F126-6C1E-729EFE27A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anchor="ctr">
            <a:normAutofit/>
          </a:bodyPr>
          <a:lstStyle/>
          <a:p>
            <a:r>
              <a:rPr lang="en-US" sz="2000" b="1"/>
              <a:t>Core Layer</a:t>
            </a:r>
            <a:r>
              <a:rPr lang="en-US" sz="2000"/>
              <a:t>:</a:t>
            </a:r>
          </a:p>
          <a:p>
            <a:pPr lvl="1"/>
            <a:r>
              <a:rPr lang="en-US" sz="2000"/>
              <a:t>Cisco Catalyst 3560 (Layer 3)</a:t>
            </a:r>
          </a:p>
          <a:p>
            <a:pPr lvl="1"/>
            <a:r>
              <a:rPr lang="en-US" sz="2000"/>
              <a:t>Handles inter-VLAN routing via SVIs</a:t>
            </a:r>
          </a:p>
          <a:p>
            <a:pPr lvl="1"/>
            <a:r>
              <a:rPr lang="en-US" sz="2000"/>
              <a:t>Directly connected to all access switches and servers</a:t>
            </a:r>
          </a:p>
          <a:p>
            <a:r>
              <a:rPr lang="en-US" sz="2000" b="1"/>
              <a:t>Access Layer</a:t>
            </a:r>
            <a:r>
              <a:rPr lang="en-US" sz="2000"/>
              <a:t>:</a:t>
            </a:r>
          </a:p>
          <a:p>
            <a:pPr lvl="1"/>
            <a:r>
              <a:rPr lang="en-US" sz="2000"/>
              <a:t>One Layer 2 switch per department</a:t>
            </a:r>
          </a:p>
          <a:p>
            <a:pPr lvl="1"/>
            <a:r>
              <a:rPr lang="en-US" sz="2000"/>
              <a:t>Connects PCs, printers, and wireless devices</a:t>
            </a:r>
          </a:p>
          <a:p>
            <a:r>
              <a:rPr lang="en-US" sz="2000" b="1"/>
              <a:t>Internet Simulation</a:t>
            </a:r>
            <a:r>
              <a:rPr lang="en-US" sz="2000"/>
              <a:t>:</a:t>
            </a:r>
          </a:p>
          <a:p>
            <a:pPr lvl="1"/>
            <a:r>
              <a:rPr lang="en-US" sz="2000"/>
              <a:t>Via Cisco 2911 routers</a:t>
            </a:r>
          </a:p>
          <a:p>
            <a:pPr lvl="1"/>
            <a:r>
              <a:rPr lang="en-US" sz="2000"/>
              <a:t>Internet router connected to core router</a:t>
            </a:r>
          </a:p>
          <a:p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106958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60DE2-8556-8397-8AFC-E46F5578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VLAN and IP Design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99AFEF-86B2-529D-7FFE-456112DB5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21241"/>
              </p:ext>
            </p:extLst>
          </p:nvPr>
        </p:nvGraphicFramePr>
        <p:xfrm>
          <a:off x="1163652" y="2002965"/>
          <a:ext cx="9864698" cy="416084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35307">
                  <a:extLst>
                    <a:ext uri="{9D8B030D-6E8A-4147-A177-3AD203B41FA5}">
                      <a16:colId xmlns:a16="http://schemas.microsoft.com/office/drawing/2014/main" val="1946411970"/>
                    </a:ext>
                  </a:extLst>
                </a:gridCol>
                <a:gridCol w="1730096">
                  <a:extLst>
                    <a:ext uri="{9D8B030D-6E8A-4147-A177-3AD203B41FA5}">
                      <a16:colId xmlns:a16="http://schemas.microsoft.com/office/drawing/2014/main" val="2854866538"/>
                    </a:ext>
                  </a:extLst>
                </a:gridCol>
                <a:gridCol w="2735307">
                  <a:extLst>
                    <a:ext uri="{9D8B030D-6E8A-4147-A177-3AD203B41FA5}">
                      <a16:colId xmlns:a16="http://schemas.microsoft.com/office/drawing/2014/main" val="3548645750"/>
                    </a:ext>
                  </a:extLst>
                </a:gridCol>
                <a:gridCol w="2663988">
                  <a:extLst>
                    <a:ext uri="{9D8B030D-6E8A-4147-A177-3AD203B41FA5}">
                      <a16:colId xmlns:a16="http://schemas.microsoft.com/office/drawing/2014/main" val="2595603010"/>
                    </a:ext>
                  </a:extLst>
                </a:gridCol>
              </a:tblGrid>
              <a:tr h="608903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Department</a:t>
                      </a:r>
                    </a:p>
                  </a:txBody>
                  <a:tcPr marL="237853" marR="142712" marT="142712" marB="142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VLAN</a:t>
                      </a:r>
                    </a:p>
                  </a:txBody>
                  <a:tcPr marL="237853" marR="142712" marT="142712" marB="142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Subnet</a:t>
                      </a:r>
                    </a:p>
                  </a:txBody>
                  <a:tcPr marL="237853" marR="142712" marT="142712" marB="142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Gateway IP</a:t>
                      </a:r>
                    </a:p>
                  </a:txBody>
                  <a:tcPr marL="237853" marR="142712" marT="142712" marB="142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30502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Development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192.168.10.0/24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192.168.10.1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548943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QA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192.168.20.0/24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192.168.20.1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92916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HR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192.168.30.0/24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192.168.30.1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47378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Admin/Finance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192.168.40.0/24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192.168.40.1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6639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Servers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192.168.50.0/24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192.168.50.1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359540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Management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192.168.60.0/24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192.168.60.1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504823"/>
                  </a:ext>
                </a:extLst>
              </a:tr>
              <a:tr h="50742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Guest Wi-Fi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70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192.168.70.0/24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192.168.70.1</a:t>
                      </a:r>
                    </a:p>
                  </a:txBody>
                  <a:tcPr marL="237853" marR="123683" marT="123683" marB="1236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329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16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393A6-DA83-949A-74FB-E724B653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sz="4100" dirty="0"/>
              <a:t>Server Infrastructure</a:t>
            </a:r>
            <a:br>
              <a:rPr lang="en-US" sz="4100" b="1" dirty="0"/>
            </a:br>
            <a:endParaRPr lang="en-PK" sz="4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743DD2-6FD5-96EB-CD87-443832C2C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5014" y="964850"/>
            <a:ext cx="6068786" cy="4928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All services hosted in VLAN 50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Static IPs for servers: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DHCP Server – 192.168.50.10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DNS Server – 192.168.50.20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FTP Server – 192.168.50.30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Web Server – 192.168.50.40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Centralized and directly connected to Core Switch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Accessible across all departments</a:t>
            </a:r>
          </a:p>
        </p:txBody>
      </p:sp>
    </p:spTree>
    <p:extLst>
      <p:ext uri="{BB962C8B-B14F-4D97-AF65-F5344CB8AC3E}">
        <p14:creationId xmlns:p14="http://schemas.microsoft.com/office/powerpoint/2010/main" val="119399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9CB60-2944-8DF4-DBA9-BABA79DB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sz="4100" dirty="0"/>
              <a:t>Key Configurations</a:t>
            </a:r>
            <a:endParaRPr lang="en-PK" sz="41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688672-427B-FB70-3F19-4A8A7FB48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5014" y="964850"/>
            <a:ext cx="6068786" cy="4928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created and assigned to access switch ports for each department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Trunk links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established between access switches and the core Layer 3 switch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SVIs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(Switched Virtual Interfaces) configured on the core switch for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inter-VLAN routing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Pools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set up per VLAN for dynamic IP allocation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A-records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created for internal services (e.g.,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ftp.tps.com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intranet.tps.com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FTP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servers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tested successfully with login and browser access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Internet Router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connected to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Guest VLAN (VLAN 70)</a:t>
            </a: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Guest laptop verified internet access through this router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1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8DBC8-8594-6FFC-8598-5282818F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Testing &amp; Validation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0481-405F-0686-3726-244F46FC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PK" sz="2000" dirty="0"/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Intra-VLAN Communication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Inter-VLAN Routing via Core Switch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DHCP lease assignment to clients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DNS hostname resolution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FTP file transfers (Dev &amp; QA)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Internal web server access via browser</a:t>
            </a:r>
          </a:p>
          <a:p>
            <a:pPr marL="0" indent="0">
              <a:buNone/>
            </a:pP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Internet connectivity (simulated router)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7432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395D0-B031-DB42-F92D-3238AF98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  <a:endParaRPr lang="en-P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1503E4-C2E3-288A-6D63-4042C90DDA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5014" y="964850"/>
            <a:ext cx="6068786" cy="4928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Successfully built a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simulated enterprise network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based on the blueprint provided by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TPS Worldwide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Demonstrated key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enterprise networking concepts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including: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 segmentation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Inter-VLAN routing via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SVIs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Centralized server services (DHCP, DNS, FTP, Web)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Simulated internet access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Conducted thorough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testing and validation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ensure full end-to-end connectivity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design reflects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scalability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security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industry best practices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Also serves as a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comprehensive practice project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key exam topics and hands-on learning</a:t>
            </a:r>
          </a:p>
        </p:txBody>
      </p:sp>
    </p:spTree>
    <p:extLst>
      <p:ext uri="{BB962C8B-B14F-4D97-AF65-F5344CB8AC3E}">
        <p14:creationId xmlns:p14="http://schemas.microsoft.com/office/powerpoint/2010/main" val="96492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38B25B952BA498642C8CF176CCC64" ma:contentTypeVersion="12" ma:contentTypeDescription="Create a new document." ma:contentTypeScope="" ma:versionID="4f30b4b71cf2410f824291b7eeb70c0e">
  <xsd:schema xmlns:xsd="http://www.w3.org/2001/XMLSchema" xmlns:xs="http://www.w3.org/2001/XMLSchema" xmlns:p="http://schemas.microsoft.com/office/2006/metadata/properties" xmlns:ns2="ad3a173c-5ea3-4541-9af5-2a7e8752e13e" xmlns:ns3="d8c6bd4f-ee28-4a0b-a848-369bec7a842a" targetNamespace="http://schemas.microsoft.com/office/2006/metadata/properties" ma:root="true" ma:fieldsID="b7d9fd7fef7436e06aae0cf60df1d10b" ns2:_="" ns3:_="">
    <xsd:import namespace="ad3a173c-5ea3-4541-9af5-2a7e8752e13e"/>
    <xsd:import namespace="d8c6bd4f-ee28-4a0b-a848-369bec7a842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a173c-5ea3-4541-9af5-2a7e8752e13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982d53a-bb51-487e-8db8-b606b23a34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6bd4f-ee28-4a0b-a848-369bec7a842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d12ef38-fe04-4a60-a0b1-1624101d19b1}" ma:internalName="TaxCatchAll" ma:showField="CatchAllData" ma:web="d8c6bd4f-ee28-4a0b-a848-369bec7a84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3a173c-5ea3-4541-9af5-2a7e8752e13e">
      <Terms xmlns="http://schemas.microsoft.com/office/infopath/2007/PartnerControls"/>
    </lcf76f155ced4ddcb4097134ff3c332f>
    <ReferenceId xmlns="ad3a173c-5ea3-4541-9af5-2a7e8752e13e" xsi:nil="true"/>
    <TaxCatchAll xmlns="d8c6bd4f-ee28-4a0b-a848-369bec7a842a" xsi:nil="true"/>
  </documentManagement>
</p:properties>
</file>

<file path=customXml/itemProps1.xml><?xml version="1.0" encoding="utf-8"?>
<ds:datastoreItem xmlns:ds="http://schemas.openxmlformats.org/officeDocument/2006/customXml" ds:itemID="{167E2F6D-2DA9-427E-A0B7-292BB521C20B}"/>
</file>

<file path=customXml/itemProps2.xml><?xml version="1.0" encoding="utf-8"?>
<ds:datastoreItem xmlns:ds="http://schemas.openxmlformats.org/officeDocument/2006/customXml" ds:itemID="{05FA2515-989F-4DA8-AF90-003656F8B4C0}"/>
</file>

<file path=customXml/itemProps3.xml><?xml version="1.0" encoding="utf-8"?>
<ds:datastoreItem xmlns:ds="http://schemas.openxmlformats.org/officeDocument/2006/customXml" ds:itemID="{6EA2A322-2BFF-42FC-8B9C-6B8596A3F0B0}"/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622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Unicode MS</vt:lpstr>
      <vt:lpstr>Office Theme</vt:lpstr>
      <vt:lpstr>Design and Simulation of TPS Worldwide’s Network Infrastructure (Blueprint-Based Implementation in Cisco Packet Tracer)</vt:lpstr>
      <vt:lpstr>Project overview</vt:lpstr>
      <vt:lpstr>Objectives</vt:lpstr>
      <vt:lpstr>Network Architecture</vt:lpstr>
      <vt:lpstr>VLAN and IP Design</vt:lpstr>
      <vt:lpstr>Server Infrastructure </vt:lpstr>
      <vt:lpstr>Key Configurations</vt:lpstr>
      <vt:lpstr>Testing &amp;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23SP-101-CS Syeda Maham Ikram</dc:creator>
  <cp:lastModifiedBy>23SP-101-CS Syeda Maham Ikram</cp:lastModifiedBy>
  <cp:revision>1</cp:revision>
  <dcterms:created xsi:type="dcterms:W3CDTF">2025-06-13T18:22:26Z</dcterms:created>
  <dcterms:modified xsi:type="dcterms:W3CDTF">2025-06-13T18:54:32Z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0x01010081A38B25B952BA498642C8CF176CCC64</vt:lpwstr>
  </property>
</Properties>
</file>